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Prachason Neue Expanded Bold" charset="1" panose="00000000000000000000"/>
      <p:regular r:id="rId32"/>
    </p:embeddedFont>
    <p:embeddedFont>
      <p:font typeface="Montserrat" charset="1" panose="00000500000000000000"/>
      <p:regular r:id="rId33"/>
    </p:embeddedFont>
    <p:embeddedFont>
      <p:font typeface="Montserrat Medium" charset="1" panose="00000600000000000000"/>
      <p:regular r:id="rId34"/>
    </p:embeddedFont>
    <p:embeddedFont>
      <p:font typeface="Montserrat Bold" charset="1" panose="00000800000000000000"/>
      <p:regular r:id="rId35"/>
    </p:embeddedFont>
    <p:embeddedFont>
      <p:font typeface="Montserrat Italics" charset="1" panose="00000500000000000000"/>
      <p:regular r:id="rId36"/>
    </p:embeddedFont>
    <p:embeddedFont>
      <p:font typeface="Open Sauce" charset="1" panose="00000500000000000000"/>
      <p:regular r:id="rId37"/>
    </p:embeddedFont>
    <p:embeddedFont>
      <p:font typeface="Open Sauce Bold" charset="1" panose="00000800000000000000"/>
      <p:regular r:id="rId38"/>
    </p:embeddedFont>
    <p:embeddedFont>
      <p:font typeface="Canva Sans" charset="1" panose="020B0503030501040103"/>
      <p:regular r:id="rId39"/>
    </p:embeddedFont>
    <p:embeddedFont>
      <p:font typeface="Glacial Indifference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https://untether.i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VAG-tjyIO1M.mp4" Type="http://schemas.openxmlformats.org/officeDocument/2006/relationships/video"/><Relationship Id="rId4" Target="../media/VAG-tjyIO1M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VAG-t0BAqTU.mp4" Type="http://schemas.openxmlformats.org/officeDocument/2006/relationships/video"/><Relationship Id="rId5" Target="../media/VAG-t0BAqTU.mp4" Type="http://schemas.microsoft.com/office/2007/relationships/media"/><Relationship Id="rId6" Target="../media/image7.jpeg" Type="http://schemas.openxmlformats.org/officeDocument/2006/relationships/image"/><Relationship Id="rId7" Target="../media/VAG-tz7ifkk.mp4" Type="http://schemas.openxmlformats.org/officeDocument/2006/relationships/video"/><Relationship Id="rId8" Target="../media/VAG-tz7ifkk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jpe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23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483" y="0"/>
            <a:ext cx="19840966" cy="10813326"/>
          </a:xfrm>
          <a:custGeom>
            <a:avLst/>
            <a:gdLst/>
            <a:ahLst/>
            <a:cxnLst/>
            <a:rect r="r" b="b" t="t" l="l"/>
            <a:pathLst>
              <a:path h="10813326" w="19840966">
                <a:moveTo>
                  <a:pt x="0" y="0"/>
                </a:moveTo>
                <a:lnTo>
                  <a:pt x="19840966" y="0"/>
                </a:lnTo>
                <a:lnTo>
                  <a:pt x="19840966" y="10813326"/>
                </a:lnTo>
                <a:lnTo>
                  <a:pt x="0" y="1081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65964" y="6419555"/>
            <a:ext cx="10267498" cy="10267498"/>
          </a:xfrm>
          <a:custGeom>
            <a:avLst/>
            <a:gdLst/>
            <a:ahLst/>
            <a:cxnLst/>
            <a:rect r="r" b="b" t="t" l="l"/>
            <a:pathLst>
              <a:path h="10267498" w="10267498">
                <a:moveTo>
                  <a:pt x="0" y="0"/>
                </a:moveTo>
                <a:lnTo>
                  <a:pt x="10267498" y="0"/>
                </a:lnTo>
                <a:lnTo>
                  <a:pt x="10267498" y="10267498"/>
                </a:lnTo>
                <a:lnTo>
                  <a:pt x="0" y="10267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6712" y="1200758"/>
            <a:ext cx="15380127" cy="212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0"/>
              </a:lnSpc>
            </a:pPr>
            <a:r>
              <a:rPr lang="en-US" b="true" sz="10707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UNTETHER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528964" y="-4676538"/>
            <a:ext cx="7759036" cy="7759036"/>
          </a:xfrm>
          <a:custGeom>
            <a:avLst/>
            <a:gdLst/>
            <a:ahLst/>
            <a:cxnLst/>
            <a:rect r="r" b="b" t="t" l="l"/>
            <a:pathLst>
              <a:path h="7759036" w="7759036">
                <a:moveTo>
                  <a:pt x="0" y="0"/>
                </a:moveTo>
                <a:lnTo>
                  <a:pt x="7759036" y="0"/>
                </a:lnTo>
                <a:lnTo>
                  <a:pt x="7759036" y="7759036"/>
                </a:lnTo>
                <a:lnTo>
                  <a:pt x="0" y="7759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65964" y="4792972"/>
            <a:ext cx="17904178" cy="8620340"/>
          </a:xfrm>
          <a:custGeom>
            <a:avLst/>
            <a:gdLst/>
            <a:ahLst/>
            <a:cxnLst/>
            <a:rect r="r" b="b" t="t" l="l"/>
            <a:pathLst>
              <a:path h="8620340" w="17904178">
                <a:moveTo>
                  <a:pt x="0" y="0"/>
                </a:moveTo>
                <a:lnTo>
                  <a:pt x="17904178" y="0"/>
                </a:lnTo>
                <a:lnTo>
                  <a:pt x="17904178" y="8620340"/>
                </a:lnTo>
                <a:lnTo>
                  <a:pt x="0" y="8620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97" r="0" b="-659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1608" y="3050885"/>
            <a:ext cx="7877356" cy="47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670" spc="619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PRIVATE · PROACTIVE · YOURS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776483" y="9725278"/>
            <a:ext cx="8670471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</a:pPr>
            <a:r>
              <a:rPr lang="en-US" b="true" sz="2578" spc="407">
                <a:solidFill>
                  <a:srgbClr val="EEEE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Gautam · Harish · [</a:t>
            </a:r>
            <a:r>
              <a:rPr lang="en-US" b="true" sz="2578" spc="407" u="sng">
                <a:solidFill>
                  <a:srgbClr val="EEEEEC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 tooltip="https://untether.in"/>
              </a:rPr>
              <a:t>untether.in</a:t>
            </a:r>
            <a:r>
              <a:rPr lang="en-US" b="true" sz="2578" spc="407">
                <a:solidFill>
                  <a:srgbClr val="EEEE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54623"/>
            <a:ext cx="7368982" cy="167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2578" spc="40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 private chief of staff built on a hand-designed memory system — it rec</a:t>
            </a:r>
            <a:r>
              <a:rPr lang="en-US" sz="2578" spc="40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alls your life with receipts, on hardware you own.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25675"/>
            <a:ext cx="14062374" cy="7763969"/>
            <a:chOff x="0" y="0"/>
            <a:chExt cx="18749832" cy="10351958"/>
          </a:xfrm>
        </p:grpSpPr>
        <p:pic>
          <p:nvPicPr>
            <p:cNvPr name="Picture 3" id="3">
              <a:hlinkClick action="ppaction://media"/>
            </p:cNvPr>
            <p:cNvPicPr>
              <a:picLocks noChangeAspect="true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4"/>
                </p:ext>
              </p:extLst>
            </p:nvPr>
          </p:nvPicPr>
          <p:blipFill>
            <a:blip r:embed="rId2"/>
            <a:srcRect l="0" t="14714" r="0" b="14714"/>
            <a:stretch>
              <a:fillRect/>
            </a:stretch>
          </p:blipFill>
          <p:spPr>
            <a:xfrm flipH="false" flipV="false" rot="0">
              <a:off x="2346835" y="3840660"/>
              <a:ext cx="16402997" cy="6511298"/>
            </a:xfrm>
            <a:prstGeom prst="rect">
              <a:avLst/>
            </a:prstGeom>
          </p:spPr>
        </p:pic>
        <p:sp>
          <p:nvSpPr>
            <p:cNvPr name="TextBox 4" id="4"/>
            <p:cNvSpPr txBox="true"/>
            <p:nvPr/>
          </p:nvSpPr>
          <p:spPr>
            <a:xfrm rot="0">
              <a:off x="0" y="-85725"/>
              <a:ext cx="12104814" cy="737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8"/>
                </a:lnSpc>
              </a:pPr>
              <a:r>
                <a:rPr lang="en-US" sz="3249" spc="753">
                  <a:solidFill>
                    <a:srgbClr val="EEEE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MODERN AI ASSISTANT IS: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32750" y="3974939"/>
            <a:ext cx="16582955" cy="301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Prompt driven, not experience‑driven</a:t>
            </a:r>
          </a:p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Operating on short‑term context, not lived experience</a:t>
            </a:r>
          </a:p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Unable to form long‑term memory, beliefs, or patterns from experience</a:t>
            </a:r>
          </a:p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Unable to distinguish between temporary context and lasting insight</a:t>
            </a:r>
          </a:p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Always threatening the privacy of the user, and thus limited in context.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7675"/>
            <a:ext cx="16230600" cy="247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3"/>
              </a:lnSpc>
            </a:pPr>
            <a:r>
              <a:rPr lang="en-US" b="true" sz="12471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PROBLEM?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9950"/>
            <a:ext cx="9078611" cy="57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249" spc="7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WHY AI HASN'T FIXED THIS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2522" y="4163346"/>
            <a:ext cx="16582955" cy="423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 TRUST WALL — the more valuable your context (Funds, M&amp;A, intimate relations, politics, etc.), the less AI you're allowed to use.</a:t>
            </a:r>
          </a:p>
          <a:p>
            <a:pPr algn="l">
              <a:lnSpc>
                <a:spcPts val="4808"/>
              </a:lnSpc>
            </a:pPr>
          </a:p>
          <a:p>
            <a:pPr algn="l" marL="701485" indent="-350743" lvl="1">
              <a:lnSpc>
                <a:spcPts val="4808"/>
              </a:lnSpc>
              <a:buFont typeface="Arial"/>
              <a:buChar char="•"/>
            </a:pPr>
            <a:r>
              <a:rPr lang="en-US" sz="3249" spc="7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 MEMORY WALL — even AI that sees your data doesn't remember it: context windows blur and forget; RAG retrieves lookalikes and confabulates. Kicker: Recall degrades exactly as your history — and your value — grows.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6250"/>
            <a:ext cx="16230600" cy="234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0"/>
              </a:lnSpc>
            </a:pPr>
            <a:r>
              <a:rPr lang="en-US" b="true" sz="11771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TWO WALLS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483" y="0"/>
            <a:ext cx="19840966" cy="10813326"/>
          </a:xfrm>
          <a:custGeom>
            <a:avLst/>
            <a:gdLst/>
            <a:ahLst/>
            <a:cxnLst/>
            <a:rect r="r" b="b" t="t" l="l"/>
            <a:pathLst>
              <a:path h="10813326" w="19840966">
                <a:moveTo>
                  <a:pt x="0" y="0"/>
                </a:moveTo>
                <a:lnTo>
                  <a:pt x="19840966" y="0"/>
                </a:lnTo>
                <a:lnTo>
                  <a:pt x="19840966" y="10813326"/>
                </a:lnTo>
                <a:lnTo>
                  <a:pt x="0" y="1081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6238" y="325943"/>
            <a:ext cx="10939282" cy="21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0"/>
              </a:lnSpc>
            </a:pPr>
            <a:r>
              <a:rPr lang="en-US" b="true" sz="11000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WHY</a:t>
            </a:r>
            <a:r>
              <a:rPr lang="en-US" b="true" sz="11000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 NOW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5442" y="3799518"/>
            <a:ext cx="15817116" cy="34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099" spc="7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Three curves just crossed:</a:t>
            </a:r>
          </a:p>
          <a:p>
            <a:pPr algn="l" marL="669089" indent="-334544" lvl="1">
              <a:lnSpc>
                <a:spcPts val="4586"/>
              </a:lnSpc>
              <a:buFont typeface="Arial"/>
              <a:buChar char="•"/>
            </a:pPr>
            <a:r>
              <a:rPr lang="en-US" sz="3099" spc="7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Open-weight models on a $3–5K hardware match 3-months-ago frontier cloud AI. </a:t>
            </a:r>
          </a:p>
          <a:p>
            <a:pPr algn="l" marL="669089" indent="-334544" lvl="1">
              <a:lnSpc>
                <a:spcPts val="4586"/>
              </a:lnSpc>
              <a:buFont typeface="Arial"/>
              <a:buChar char="•"/>
            </a:pPr>
            <a:r>
              <a:rPr lang="en-US" sz="3099" spc="7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Ambient intelligence capture matured.</a:t>
            </a:r>
          </a:p>
          <a:p>
            <a:pPr algn="l" marL="669089" indent="-334544" lvl="1">
              <a:lnSpc>
                <a:spcPts val="4586"/>
              </a:lnSpc>
              <a:buFont typeface="Arial"/>
              <a:buChar char="•"/>
            </a:pPr>
            <a:r>
              <a:rPr lang="en-US" sz="3099" spc="7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Intelligence is commoditizing weekly — memory and trust are not, and that tier is empty.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483" y="0"/>
            <a:ext cx="19840966" cy="10813326"/>
          </a:xfrm>
          <a:custGeom>
            <a:avLst/>
            <a:gdLst/>
            <a:ahLst/>
            <a:cxnLst/>
            <a:rect r="r" b="b" t="t" l="l"/>
            <a:pathLst>
              <a:path h="10813326" w="19840966">
                <a:moveTo>
                  <a:pt x="0" y="0"/>
                </a:moveTo>
                <a:lnTo>
                  <a:pt x="19840966" y="0"/>
                </a:lnTo>
                <a:lnTo>
                  <a:pt x="19840966" y="10813326"/>
                </a:lnTo>
                <a:lnTo>
                  <a:pt x="0" y="1081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1995.0000" end="5860.0000"/>
                </p14:media>
              </p:ext>
            </p:extLst>
          </p:nvPr>
        </p:nvPicPr>
        <p:blipFill>
          <a:blip r:embed="rId3"/>
          <a:srcRect l="8320" t="17256" r="10669" b="14200"/>
          <a:stretch>
            <a:fillRect/>
          </a:stretch>
        </p:blipFill>
        <p:spPr>
          <a:xfrm flipH="false" flipV="false" rot="0">
            <a:off x="565669" y="2550403"/>
            <a:ext cx="4417108" cy="2102260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>
                  <p14:trim st="3312.5000" end="4560.0000"/>
                </p14:media>
              </p:ext>
            </p:extLst>
          </p:nvPr>
        </p:nvPicPr>
        <p:blipFill>
          <a:blip r:embed="rId6"/>
          <a:srcRect l="16108" t="2670" r="19074" b="793"/>
          <a:stretch>
            <a:fillRect/>
          </a:stretch>
        </p:blipFill>
        <p:spPr>
          <a:xfrm flipH="false" flipV="false" rot="0">
            <a:off x="1219783" y="4434807"/>
            <a:ext cx="3108879" cy="260448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638175"/>
            <a:ext cx="10939282" cy="166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2"/>
              </a:lnSpc>
            </a:pPr>
            <a:r>
              <a:rPr lang="en-US" b="true" sz="8405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SOLUTION: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669" y="7431398"/>
            <a:ext cx="17354776" cy="231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500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Memory is structured, queryable, and reasoned over. </a:t>
            </a:r>
            <a:r>
              <a:rPr lang="en-US" sz="2500" spc="60" b="true">
                <a:solidFill>
                  <a:srgbClr val="EEEEE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 don't prompt it. It works.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  <a:r>
              <a:rPr lang="en-US" sz="2500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Hallway: "let's do Thursday" → invite pending before you're at your desk, one tap to confirm. Every promise tracked, nudged, chased in your voice. Inbox to zero, calendar defended, meetings closed in ten minutes.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2882" y="3282714"/>
            <a:ext cx="3815274" cy="55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099" spc="71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PERCEPTION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8399" y="5347531"/>
            <a:ext cx="4255601" cy="55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099" spc="71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41822" y="3534858"/>
            <a:ext cx="8139219" cy="350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Visual and audio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pu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pro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cessed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cally, not streamed</a:t>
            </a:r>
          </a:p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Raw data converted into structured observations, not recordings</a:t>
            </a:r>
          </a:p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Real‑time insights without cloud exposure</a:t>
            </a:r>
          </a:p>
          <a:p>
            <a:pPr algn="l">
              <a:lnSpc>
                <a:spcPts val="3996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483" y="0"/>
            <a:ext cx="19840966" cy="10813326"/>
          </a:xfrm>
          <a:custGeom>
            <a:avLst/>
            <a:gdLst/>
            <a:ahLst/>
            <a:cxnLst/>
            <a:rect r="r" b="b" t="t" l="l"/>
            <a:pathLst>
              <a:path h="10813326" w="19840966">
                <a:moveTo>
                  <a:pt x="0" y="0"/>
                </a:moveTo>
                <a:lnTo>
                  <a:pt x="19840966" y="0"/>
                </a:lnTo>
                <a:lnTo>
                  <a:pt x="19840966" y="10813326"/>
                </a:lnTo>
                <a:lnTo>
                  <a:pt x="0" y="1081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38175"/>
            <a:ext cx="10939282" cy="166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2"/>
              </a:lnSpc>
            </a:pPr>
            <a:r>
              <a:rPr lang="en-US" b="true" sz="8405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WHO IT’S FOR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68192"/>
            <a:ext cx="10195326" cy="41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57" b="true">
                <a:solidFill>
                  <a:srgbClr val="EEEEE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Start where trust is worth the most. End up everywhere.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313" y="3233408"/>
            <a:ext cx="17107373" cy="65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Now: Founders &amp; HNWIs — context worth millions, calendars like war zones, already paying $70–120K/yr for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EAs; hand-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nstalled Va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ul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at $4–9K ACV.</a:t>
            </a:r>
          </a:p>
          <a:p>
            <a:pPr algn="l">
              <a:lnSpc>
                <a:spcPts val="3996"/>
              </a:lnSpc>
            </a:pPr>
          </a:p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Next: The confidentiality prof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essions — executives,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attorneys, physi</a:t>
            </a: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cians, wealth managers; every vertical a compliance story the architecture already satisfies.</a:t>
            </a:r>
          </a:p>
          <a:p>
            <a:pPr algn="l">
              <a:lnSpc>
                <a:spcPts val="3996"/>
              </a:lnSpc>
            </a:pPr>
          </a:p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Then: Developers — open schema + self-host turns the internet's most skeptical community into auditors and distribution.</a:t>
            </a:r>
          </a:p>
          <a:p>
            <a:pPr algn="l">
              <a:lnSpc>
                <a:spcPts val="3996"/>
              </a:lnSpc>
            </a:pPr>
          </a:p>
          <a:p>
            <a:pPr algn="l" marL="582930" indent="-291465" lvl="1">
              <a:lnSpc>
                <a:spcPts val="3996"/>
              </a:lnSpc>
              <a:buFont typeface="Arial"/>
              <a:buChar char="•"/>
            </a:pPr>
            <a:r>
              <a:rPr lang="en-US" sz="2700" spc="64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Everyone: Students &amp; prosumers — a lightweight hosted instance on a cloud VPS: same memory system, no appliance, a fraction of the price.</a:t>
            </a:r>
          </a:p>
          <a:p>
            <a:pPr algn="l">
              <a:lnSpc>
                <a:spcPts val="3996"/>
              </a:lnSpc>
            </a:pPr>
          </a:p>
          <a:p>
            <a:pPr algn="l">
              <a:lnSpc>
                <a:spcPts val="399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483" y="0"/>
            <a:ext cx="19840966" cy="10813326"/>
          </a:xfrm>
          <a:custGeom>
            <a:avLst/>
            <a:gdLst/>
            <a:ahLst/>
            <a:cxnLst/>
            <a:rect r="r" b="b" t="t" l="l"/>
            <a:pathLst>
              <a:path h="10813326" w="19840966">
                <a:moveTo>
                  <a:pt x="0" y="0"/>
                </a:moveTo>
                <a:lnTo>
                  <a:pt x="19840966" y="0"/>
                </a:lnTo>
                <a:lnTo>
                  <a:pt x="19840966" y="10813326"/>
                </a:lnTo>
                <a:lnTo>
                  <a:pt x="0" y="1081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236" y="3256266"/>
            <a:ext cx="6002034" cy="6002034"/>
          </a:xfrm>
          <a:custGeom>
            <a:avLst/>
            <a:gdLst/>
            <a:ahLst/>
            <a:cxnLst/>
            <a:rect r="r" b="b" t="t" l="l"/>
            <a:pathLst>
              <a:path h="6002034" w="6002034">
                <a:moveTo>
                  <a:pt x="0" y="0"/>
                </a:moveTo>
                <a:lnTo>
                  <a:pt x="6002034" y="0"/>
                </a:lnTo>
                <a:lnTo>
                  <a:pt x="6002034" y="6002034"/>
                </a:lnTo>
                <a:lnTo>
                  <a:pt x="0" y="6002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38175"/>
            <a:ext cx="16230600" cy="16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MARKET OPPORTUNITY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1875" y="2914950"/>
            <a:ext cx="10310237" cy="6604593"/>
            <a:chOff x="0" y="0"/>
            <a:chExt cx="2715453" cy="17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5453" cy="1739481"/>
            </a:xfrm>
            <a:custGeom>
              <a:avLst/>
              <a:gdLst/>
              <a:ahLst/>
              <a:cxnLst/>
              <a:rect r="r" b="b" t="t" l="l"/>
              <a:pathLst>
                <a:path h="1739481" w="2715453">
                  <a:moveTo>
                    <a:pt x="12765" y="0"/>
                  </a:moveTo>
                  <a:lnTo>
                    <a:pt x="2702688" y="0"/>
                  </a:lnTo>
                  <a:cubicBezTo>
                    <a:pt x="2709738" y="0"/>
                    <a:pt x="2715453" y="5715"/>
                    <a:pt x="2715453" y="12765"/>
                  </a:cubicBezTo>
                  <a:lnTo>
                    <a:pt x="2715453" y="1726716"/>
                  </a:lnTo>
                  <a:cubicBezTo>
                    <a:pt x="2715453" y="1730102"/>
                    <a:pt x="2714108" y="1733349"/>
                    <a:pt x="2711714" y="1735743"/>
                  </a:cubicBezTo>
                  <a:cubicBezTo>
                    <a:pt x="2709320" y="1738137"/>
                    <a:pt x="2706074" y="1739481"/>
                    <a:pt x="2702688" y="1739481"/>
                  </a:cubicBezTo>
                  <a:lnTo>
                    <a:pt x="12765" y="1739481"/>
                  </a:lnTo>
                  <a:cubicBezTo>
                    <a:pt x="9380" y="1739481"/>
                    <a:pt x="6133" y="1738137"/>
                    <a:pt x="3739" y="1735743"/>
                  </a:cubicBezTo>
                  <a:cubicBezTo>
                    <a:pt x="1345" y="1733349"/>
                    <a:pt x="0" y="1730102"/>
                    <a:pt x="0" y="1726716"/>
                  </a:cubicBezTo>
                  <a:lnTo>
                    <a:pt x="0" y="12765"/>
                  </a:lnTo>
                  <a:cubicBezTo>
                    <a:pt x="0" y="9380"/>
                    <a:pt x="1345" y="6133"/>
                    <a:pt x="3739" y="3739"/>
                  </a:cubicBezTo>
                  <a:cubicBezTo>
                    <a:pt x="6133" y="1345"/>
                    <a:pt x="9380" y="0"/>
                    <a:pt x="12765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15453" cy="1777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89870" y="3085608"/>
            <a:ext cx="9834246" cy="6263277"/>
          </a:xfrm>
          <a:custGeom>
            <a:avLst/>
            <a:gdLst/>
            <a:ahLst/>
            <a:cxnLst/>
            <a:rect r="r" b="b" t="t" l="l"/>
            <a:pathLst>
              <a:path h="6263277" w="9834246">
                <a:moveTo>
                  <a:pt x="0" y="0"/>
                </a:moveTo>
                <a:lnTo>
                  <a:pt x="9834246" y="0"/>
                </a:lnTo>
                <a:lnTo>
                  <a:pt x="9834246" y="6263277"/>
                </a:lnTo>
                <a:lnTo>
                  <a:pt x="0" y="62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6069">
            <a:off x="15259189" y="2940265"/>
            <a:ext cx="2758135" cy="2758135"/>
          </a:xfrm>
          <a:custGeom>
            <a:avLst/>
            <a:gdLst/>
            <a:ahLst/>
            <a:cxnLst/>
            <a:rect r="r" b="b" t="t" l="l"/>
            <a:pathLst>
              <a:path h="2758135" w="2758135">
                <a:moveTo>
                  <a:pt x="0" y="0"/>
                </a:moveTo>
                <a:lnTo>
                  <a:pt x="2758135" y="0"/>
                </a:lnTo>
                <a:lnTo>
                  <a:pt x="2758135" y="2758135"/>
                </a:lnTo>
                <a:lnTo>
                  <a:pt x="0" y="2758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35861">
            <a:off x="12462818" y="4805696"/>
            <a:ext cx="3234062" cy="3388065"/>
          </a:xfrm>
          <a:custGeom>
            <a:avLst/>
            <a:gdLst/>
            <a:ahLst/>
            <a:cxnLst/>
            <a:rect r="r" b="b" t="t" l="l"/>
            <a:pathLst>
              <a:path h="3388065" w="3234062">
                <a:moveTo>
                  <a:pt x="0" y="0"/>
                </a:moveTo>
                <a:lnTo>
                  <a:pt x="3234063" y="0"/>
                </a:lnTo>
                <a:lnTo>
                  <a:pt x="3234063" y="3388066"/>
                </a:lnTo>
                <a:lnTo>
                  <a:pt x="0" y="3388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797" t="-115466" r="-49892" b="-1183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91268">
            <a:off x="15576850" y="7441383"/>
            <a:ext cx="2162997" cy="2799996"/>
          </a:xfrm>
          <a:custGeom>
            <a:avLst/>
            <a:gdLst/>
            <a:ahLst/>
            <a:cxnLst/>
            <a:rect r="r" b="b" t="t" l="l"/>
            <a:pathLst>
              <a:path h="2799996" w="2162997">
                <a:moveTo>
                  <a:pt x="0" y="0"/>
                </a:moveTo>
                <a:lnTo>
                  <a:pt x="2162997" y="0"/>
                </a:lnTo>
                <a:lnTo>
                  <a:pt x="2162997" y="2799995"/>
                </a:lnTo>
                <a:lnTo>
                  <a:pt x="0" y="2799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96540">
            <a:off x="12338067" y="43262"/>
            <a:ext cx="3483566" cy="3483566"/>
          </a:xfrm>
          <a:custGeom>
            <a:avLst/>
            <a:gdLst/>
            <a:ahLst/>
            <a:cxnLst/>
            <a:rect r="r" b="b" t="t" l="l"/>
            <a:pathLst>
              <a:path h="3483566" w="3483566">
                <a:moveTo>
                  <a:pt x="0" y="0"/>
                </a:moveTo>
                <a:lnTo>
                  <a:pt x="3483566" y="0"/>
                </a:lnTo>
                <a:lnTo>
                  <a:pt x="3483566" y="3483566"/>
                </a:lnTo>
                <a:lnTo>
                  <a:pt x="0" y="3483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47700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COMPETITION: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23205"/>
            <a:ext cx="11533796" cy="519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889" indent="-272945" lvl="1">
              <a:lnSpc>
                <a:spcPts val="3742"/>
              </a:lnSpc>
              <a:buFont typeface="Arial"/>
              <a:buChar char="•"/>
            </a:pP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Meta Ray Ban glasses  desgined for media capture, not understanding</a:t>
            </a:r>
          </a:p>
          <a:p>
            <a:pPr algn="l" marL="545889" indent="-272945" lvl="1">
              <a:lnSpc>
                <a:spcPts val="3742"/>
              </a:lnSpc>
              <a:buFont typeface="Arial"/>
              <a:buChar char="•"/>
            </a:pP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Google glasses focus on notification,overlays and apps, yet still prompt-driven and short-term</a:t>
            </a:r>
          </a:p>
          <a:p>
            <a:pPr algn="l" marL="545889" indent="-272945" lvl="1">
              <a:lnSpc>
                <a:spcPts val="3742"/>
              </a:lnSpc>
              <a:buFont typeface="Arial"/>
              <a:buChar char="•"/>
            </a:pP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Even G2 require manual prompting and pose major risks to data privacy.</a:t>
            </a:r>
          </a:p>
          <a:p>
            <a:pPr algn="l" marL="545889" indent="-272945" lvl="1">
              <a:lnSpc>
                <a:spcPts val="3742"/>
              </a:lnSpc>
              <a:buFont typeface="Arial"/>
              <a:buChar char="•"/>
            </a:pP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Humane AI pin is interaction focused device, but it has limited persistence and learning and no explicit memory or belief model</a:t>
            </a:r>
          </a:p>
          <a:p>
            <a:pPr algn="l" marL="545889" indent="-272945" lvl="1">
              <a:lnSpc>
                <a:spcPts val="3742"/>
              </a:lnSpc>
              <a:buFont typeface="Arial"/>
              <a:buChar char="•"/>
            </a:pP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Otto is a startup, promising hardware for local AI, however, they lack input methods, and cut corners in terms of speed and privacy by offloading to the cloud.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74705"/>
            <a:ext cx="13881342" cy="91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528" spc="60" b="true">
                <a:solidFill>
                  <a:srgbClr val="EEEEE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UNTETHER:</a:t>
            </a: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proactive · physical world · e</a:t>
            </a:r>
            <a:r>
              <a:rPr lang="en-US" sz="2528" spc="60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vidence-gated memory · $3.6-9K/yr</a:t>
            </a:r>
          </a:p>
          <a:p>
            <a:pPr algn="l">
              <a:lnSpc>
                <a:spcPts val="3742"/>
              </a:lnSpc>
            </a:pPr>
            <a:r>
              <a:rPr lang="en-US" sz="2528" i="true" spc="60">
                <a:solidFill>
                  <a:srgbClr val="EEEEE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We compete on the two things that don't commoditize: memory and trust.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1663" y="-423017"/>
            <a:ext cx="14686078" cy="11179777"/>
          </a:xfrm>
          <a:custGeom>
            <a:avLst/>
            <a:gdLst/>
            <a:ahLst/>
            <a:cxnLst/>
            <a:rect r="r" b="b" t="t" l="l"/>
            <a:pathLst>
              <a:path h="11179777" w="14686078">
                <a:moveTo>
                  <a:pt x="0" y="0"/>
                </a:moveTo>
                <a:lnTo>
                  <a:pt x="14686077" y="0"/>
                </a:lnTo>
                <a:lnTo>
                  <a:pt x="14686077" y="11179777"/>
                </a:lnTo>
                <a:lnTo>
                  <a:pt x="0" y="1117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66341" y="1473205"/>
            <a:ext cx="3755319" cy="153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0"/>
              </a:lnSpc>
            </a:pPr>
            <a:r>
              <a:rPr lang="en-US" b="true" sz="7734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UVPS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13397" y="1927463"/>
          <a:ext cx="17878850" cy="8129770"/>
        </p:xfrm>
        <a:graphic>
          <a:graphicData uri="http://schemas.openxmlformats.org/drawingml/2006/table">
            <a:tbl>
              <a:tblPr/>
              <a:tblGrid>
                <a:gridCol w="3280584"/>
                <a:gridCol w="3615002"/>
                <a:gridCol w="3615002"/>
                <a:gridCol w="3725608"/>
                <a:gridCol w="3642654"/>
              </a:tblGrid>
              <a:tr h="7473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Partners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Activities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 Proposition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Customer Relationships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Customer Segments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</a:tr>
              <a:tr h="2447446">
                <a:tc rowSpan="3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852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Parts Suppliers: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`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Legal Consulting Firm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Marketing Agencies / Creative Agencies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Delivery Logistics Partner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Marketing/Advertising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Continuous Lifetime Support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Research &amp; Development</a:t>
                      </a:r>
                    </a:p>
                    <a:p>
                      <a:pPr algn="l" marL="525985" indent="-175328" lvl="2">
                        <a:lnSpc>
                          <a:spcPts val="1705"/>
                        </a:lnSpc>
                        <a:buFont typeface="Arial"/>
                        <a:buChar char="⚬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Increasing quality of results</a:t>
                      </a:r>
                    </a:p>
                    <a:p>
                      <a:pPr algn="l" marL="525985" indent="-175328" lvl="2">
                        <a:lnSpc>
                          <a:spcPts val="1705"/>
                        </a:lnSpc>
                        <a:buFont typeface="Arial"/>
                        <a:buChar char="⚬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Optimizing performance/latency</a:t>
                      </a:r>
                    </a:p>
                    <a:p>
                      <a:pPr algn="l" marL="525985" indent="-175328" lvl="2">
                        <a:lnSpc>
                          <a:spcPts val="1705"/>
                        </a:lnSpc>
                        <a:buFont typeface="Arial"/>
                        <a:buChar char="⚬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Adding features and capability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rowSpan="3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The product satisfies the need for a PA in everybody’s life. Giving them access to insights, reminders, and information without even asking for 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Privacy/Ownership over all else. Customers either rent a server, a computer hosted by us, but dedicated to them, or buy a server that may reside wherever they deem fit.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Cheaper / More effective than hired human PAs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Truly autonomous AI assistance, in real time.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touch on boarding for premium leads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Users opting for the premium server purchase receive a lifetime of hand delivered updates, along with extended warranty.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Collaboration and technical support for premium technical users.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rowSpan="3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Power users, researchers, engineers, founders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Privacy-conscious professionals handling sensitive data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Teams building on-device / edge intelligence systems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Unorganized individuals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</a:tr>
              <a:tr h="747368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852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Parts Suppliers: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`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Legal Consulting Firm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Marketing Agencies / Creative Agencies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Delivery Logistics Partner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Resources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The product satisfies the need for a PA in everybody’s life. Giving them access to insights, reminders, and information without even asking for 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Privacy/Ownership over all else. Customers either rent a server, a computer hosted by us, but dedicated to them, or buy a server that may reside wherever they deem fit.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Cheaper / More effective than hired human PAs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Truly autonomous AI assistance, in real time.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Channels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Power users, researchers, engineers, founders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Privacy-conscious professionals handling sensitive data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Teams building on-device / edge intelligence systems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Unorganized individuals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</a:tr>
              <a:tr h="1808464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852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Parts Suppliers: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`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Legal Consulting Firm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Marketing Agencies / Creative Agencies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Delivery Logistics Partner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Proprietary (patented) memory layer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Unique </a:t>
                      </a: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architecture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</a:t>
                      </a: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ptimized tech stack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Optimized g</a:t>
                      </a: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lasses hardware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Cybersecurity/Reliability R&amp;D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The product satisfies the need for a PA in everybody’s life. Giving them access to insights, reminders, and information without even asking for 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Privacy/Ownership over all else. Customers either rent a server, a computer hosted by us, but dedicated to them, or buy a server that may reside wherever they deem fit.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Cheaper / More effective than hired human PAs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Truly autonomous AI assistance, in real time.</a:t>
                      </a:r>
                    </a:p>
                    <a:p>
                      <a:pPr algn="l">
                        <a:lnSpc>
                          <a:spcPts val="1705"/>
                        </a:lnSpc>
                      </a:pP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Paid/Organic Social Media Campaigns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performing written media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Security, privacy, and AI infrastructure conferences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1705"/>
                        </a:lnSpc>
                        <a:defRPr/>
                      </a:pP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Power users, researchers, engineers, founders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Privacy-conscious professionals handling sensitive data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Teams building on-device / edge intelligence systems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Unorganized individuals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</a:tr>
              <a:tr h="747368">
                <a:tc gridSpan="3"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Structure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Structure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Structure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Streams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Streams</a:t>
                      </a:r>
                      <a:endParaRPr lang="en-US" sz="1100"/>
                    </a:p>
                  </a:txBody>
                  <a:tcPr marL="96688" marR="96688" marT="96688" marB="96688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46"/>
                    </a:solidFill>
                  </a:tcPr>
                </a:tc>
              </a:tr>
              <a:tr h="16317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8"/>
                        </a:lnSpc>
                        <a:defRPr/>
                      </a:pPr>
                      <a:r>
                        <a:rPr lang="en-US" sz="137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Salaries</a:t>
                      </a: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Assembly Workers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Research and Development Employees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Marketing Employees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Customer Support Staff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8"/>
                        </a:lnSpc>
                        <a:defRPr/>
                      </a:pPr>
                      <a:r>
                        <a:rPr lang="en-US" sz="137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Sale Costs</a:t>
                      </a: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Parts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Shipping, Delivery and Setup Assistance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8"/>
                        </a:lnSpc>
                        <a:defRPr/>
                      </a:pPr>
                      <a:r>
                        <a:rPr lang="en-US" sz="137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Periodic Costs</a:t>
                      </a: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Maintenance</a:t>
                      </a: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Working Space Maintenance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Legal Consultation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Sales</a:t>
                      </a: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Monthly Private Server Rental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Optional Server Upgrades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Defaulting / Cancellation Fees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Server Sales</a:t>
                      </a:r>
                      <a:endParaRPr lang="en-US" sz="1100"/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Monthly Private Server Rental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Optional Server Upgrades</a:t>
                      </a:r>
                    </a:p>
                    <a:p>
                      <a:pPr algn="l" marL="262993" indent="-131496" lvl="1">
                        <a:lnSpc>
                          <a:spcPts val="1705"/>
                        </a:lnSpc>
                        <a:buFont typeface="Arial"/>
                        <a:buChar char="•"/>
                      </a:pPr>
                      <a:r>
                        <a:rPr lang="en-US" sz="1218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Defaulting / Cancellation Fees</a:t>
                      </a:r>
                    </a:p>
                  </a:txBody>
                  <a:tcPr marL="96688" marR="96688" marT="96688" marB="96688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213397" y="229768"/>
            <a:ext cx="17878850" cy="1453545"/>
            <a:chOff x="0" y="0"/>
            <a:chExt cx="15655878" cy="1272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55878" cy="1272818"/>
            </a:xfrm>
            <a:custGeom>
              <a:avLst/>
              <a:gdLst/>
              <a:ahLst/>
              <a:cxnLst/>
              <a:rect r="r" b="b" t="t" l="l"/>
              <a:pathLst>
                <a:path h="1272818" w="15655878">
                  <a:moveTo>
                    <a:pt x="0" y="0"/>
                  </a:moveTo>
                  <a:lnTo>
                    <a:pt x="15655878" y="0"/>
                  </a:lnTo>
                  <a:lnTo>
                    <a:pt x="15655878" y="1272818"/>
                  </a:lnTo>
                  <a:lnTo>
                    <a:pt x="0" y="1272818"/>
                  </a:lnTo>
                  <a:close/>
                </a:path>
              </a:pathLst>
            </a:custGeom>
            <a:solidFill>
              <a:srgbClr val="0F1C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15655878" cy="1377593"/>
            </a:xfrm>
            <a:prstGeom prst="rect">
              <a:avLst/>
            </a:prstGeom>
          </p:spPr>
          <p:txBody>
            <a:bodyPr anchor="ctr" rtlCol="false" tIns="26989" lIns="26989" bIns="26989" rIns="26989"/>
            <a:lstStyle/>
            <a:p>
              <a:pPr algn="l">
                <a:lnSpc>
                  <a:spcPts val="7437"/>
                </a:lnSpc>
              </a:pPr>
              <a:r>
                <a:rPr lang="en-US" sz="5312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Untether: </a:t>
              </a:r>
              <a:r>
                <a:rPr lang="en-US" sz="5312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B.M.C.</a:t>
              </a:r>
            </a:p>
          </p:txBody>
        </p:sp>
      </p:grpSp>
      <p:sp>
        <p:nvSpPr>
          <p:cNvPr name="Freeform 6" id="6" descr="Logo"/>
          <p:cNvSpPr/>
          <p:nvPr/>
        </p:nvSpPr>
        <p:spPr>
          <a:xfrm flipH="false" flipV="false" rot="0">
            <a:off x="1235271" y="3561129"/>
            <a:ext cx="996036" cy="171719"/>
          </a:xfrm>
          <a:custGeom>
            <a:avLst/>
            <a:gdLst/>
            <a:ahLst/>
            <a:cxnLst/>
            <a:rect r="r" b="b" t="t" l="l"/>
            <a:pathLst>
              <a:path h="171719" w="996036">
                <a:moveTo>
                  <a:pt x="0" y="0"/>
                </a:moveTo>
                <a:lnTo>
                  <a:pt x="996036" y="0"/>
                </a:lnTo>
                <a:lnTo>
                  <a:pt x="996036" y="171718"/>
                </a:lnTo>
                <a:lnTo>
                  <a:pt x="0" y="17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53" r="0" b="-3653"/>
            </a:stretch>
          </a:blipFill>
        </p:spPr>
      </p:sp>
      <p:sp>
        <p:nvSpPr>
          <p:cNvPr name="Freeform 7" id="7" descr="AMD's logo"/>
          <p:cNvSpPr/>
          <p:nvPr/>
        </p:nvSpPr>
        <p:spPr>
          <a:xfrm flipH="false" flipV="false" rot="0">
            <a:off x="2376563" y="3566602"/>
            <a:ext cx="722593" cy="160771"/>
          </a:xfrm>
          <a:custGeom>
            <a:avLst/>
            <a:gdLst/>
            <a:ahLst/>
            <a:cxnLst/>
            <a:rect r="r" b="b" t="t" l="l"/>
            <a:pathLst>
              <a:path h="160771" w="722593">
                <a:moveTo>
                  <a:pt x="0" y="0"/>
                </a:moveTo>
                <a:lnTo>
                  <a:pt x="722592" y="0"/>
                </a:lnTo>
                <a:lnTo>
                  <a:pt x="722592" y="160771"/>
                </a:lnTo>
                <a:lnTo>
                  <a:pt x="0" y="160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53" r="0" b="-3653"/>
            </a:stretch>
          </a:blipFill>
        </p:spPr>
      </p:sp>
      <p:sp>
        <p:nvSpPr>
          <p:cNvPr name="Freeform 8" id="8" descr="FIX-AORUS's logo"/>
          <p:cNvSpPr/>
          <p:nvPr/>
        </p:nvSpPr>
        <p:spPr>
          <a:xfrm flipH="false" flipV="false" rot="0">
            <a:off x="618037" y="4032120"/>
            <a:ext cx="869516" cy="190660"/>
          </a:xfrm>
          <a:custGeom>
            <a:avLst/>
            <a:gdLst/>
            <a:ahLst/>
            <a:cxnLst/>
            <a:rect r="r" b="b" t="t" l="l"/>
            <a:pathLst>
              <a:path h="190660" w="869516">
                <a:moveTo>
                  <a:pt x="0" y="0"/>
                </a:moveTo>
                <a:lnTo>
                  <a:pt x="869515" y="0"/>
                </a:lnTo>
                <a:lnTo>
                  <a:pt x="869515" y="190660"/>
                </a:lnTo>
                <a:lnTo>
                  <a:pt x="0" y="190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53" r="0" b="-3653"/>
            </a:stretch>
          </a:blipFill>
        </p:spPr>
      </p:sp>
      <p:sp>
        <p:nvSpPr>
          <p:cNvPr name="Freeform 9" id="9" descr="Cooler Master's logo"/>
          <p:cNvSpPr/>
          <p:nvPr/>
        </p:nvSpPr>
        <p:spPr>
          <a:xfrm flipH="false" flipV="false" rot="0">
            <a:off x="1648573" y="3863379"/>
            <a:ext cx="582734" cy="428481"/>
          </a:xfrm>
          <a:custGeom>
            <a:avLst/>
            <a:gdLst/>
            <a:ahLst/>
            <a:cxnLst/>
            <a:rect r="r" b="b" t="t" l="l"/>
            <a:pathLst>
              <a:path h="428481" w="582734">
                <a:moveTo>
                  <a:pt x="0" y="0"/>
                </a:moveTo>
                <a:lnTo>
                  <a:pt x="582734" y="0"/>
                </a:lnTo>
                <a:lnTo>
                  <a:pt x="582734" y="428481"/>
                </a:lnTo>
                <a:lnTo>
                  <a:pt x="0" y="428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53" r="0" b="-3653"/>
            </a:stretch>
          </a:blipFill>
        </p:spPr>
      </p:sp>
      <p:sp>
        <p:nvSpPr>
          <p:cNvPr name="Freeform 10" id="10" descr="Micro Center's icon"/>
          <p:cNvSpPr/>
          <p:nvPr/>
        </p:nvSpPr>
        <p:spPr>
          <a:xfrm flipH="false" flipV="false" rot="0">
            <a:off x="618037" y="3422973"/>
            <a:ext cx="472587" cy="440405"/>
          </a:xfrm>
          <a:custGeom>
            <a:avLst/>
            <a:gdLst/>
            <a:ahLst/>
            <a:cxnLst/>
            <a:rect r="r" b="b" t="t" l="l"/>
            <a:pathLst>
              <a:path h="440405" w="472587">
                <a:moveTo>
                  <a:pt x="0" y="0"/>
                </a:moveTo>
                <a:lnTo>
                  <a:pt x="472587" y="0"/>
                </a:lnTo>
                <a:lnTo>
                  <a:pt x="472587" y="440406"/>
                </a:lnTo>
                <a:lnTo>
                  <a:pt x="0" y="440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653" r="0" b="-365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76563" y="3986733"/>
            <a:ext cx="763825" cy="263233"/>
          </a:xfrm>
          <a:custGeom>
            <a:avLst/>
            <a:gdLst/>
            <a:ahLst/>
            <a:cxnLst/>
            <a:rect r="r" b="b" t="t" l="l"/>
            <a:pathLst>
              <a:path h="263233" w="763825">
                <a:moveTo>
                  <a:pt x="0" y="0"/>
                </a:moveTo>
                <a:lnTo>
                  <a:pt x="763825" y="0"/>
                </a:lnTo>
                <a:lnTo>
                  <a:pt x="763825" y="263233"/>
                </a:lnTo>
                <a:lnTo>
                  <a:pt x="0" y="263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653" r="0" b="-365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326554" y="501068"/>
            <a:ext cx="6439560" cy="8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52"/>
              </a:lnSpc>
            </a:pPr>
            <a:r>
              <a:rPr lang="en-US" sz="25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Brief Mapping of the</a:t>
            </a:r>
          </a:p>
          <a:p>
            <a:pPr algn="r">
              <a:lnSpc>
                <a:spcPts val="3552"/>
              </a:lnSpc>
            </a:pPr>
            <a:r>
              <a:rPr lang="en-US" sz="25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Company Business Plan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4612" y="1180198"/>
            <a:ext cx="16557825" cy="8391604"/>
          </a:xfrm>
          <a:custGeom>
            <a:avLst/>
            <a:gdLst/>
            <a:ahLst/>
            <a:cxnLst/>
            <a:rect r="r" b="b" t="t" l="l"/>
            <a:pathLst>
              <a:path h="8391604" w="16557825">
                <a:moveTo>
                  <a:pt x="0" y="0"/>
                </a:moveTo>
                <a:lnTo>
                  <a:pt x="16557826" y="0"/>
                </a:lnTo>
                <a:lnTo>
                  <a:pt x="16557826" y="8391604"/>
                </a:lnTo>
                <a:lnTo>
                  <a:pt x="0" y="8391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0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4122" y="628650"/>
            <a:ext cx="16699755" cy="171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7"/>
              </a:lnSpc>
            </a:pPr>
            <a:r>
              <a:rPr lang="en-US" b="true" sz="8630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ROADMAP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TECHNOLOGY: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17513"/>
            <a:ext cx="11811724" cy="674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441" spc="295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GLASSES ARE PURE SENSORS</a:t>
            </a: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Audio, video, and GPS stream to a local server. No meaningful onboard compute.</a:t>
            </a:r>
          </a:p>
          <a:p>
            <a:pPr algn="l">
              <a:lnSpc>
                <a:spcPts val="3613"/>
              </a:lnSpc>
            </a:pPr>
            <a:r>
              <a:rPr lang="en-US" sz="2441" spc="295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DETERMINISTIC, HALLUCINATION-RESISTANT MEMORY CORE</a:t>
            </a: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Raw observations are never promoted directly; beliefs are gated, auditable, and controllable.</a:t>
            </a:r>
          </a:p>
          <a:p>
            <a:pPr algn="l">
              <a:lnSpc>
                <a:spcPts val="3613"/>
              </a:lnSpc>
            </a:pPr>
            <a:r>
              <a:rPr lang="en-US" sz="2441" spc="295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MODEL-AGNOSTIC AND FUTURE-PROOF</a:t>
            </a: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Swap in better perception or reasoning models without losing memory or retraining.</a:t>
            </a:r>
          </a:p>
          <a:p>
            <a:pPr algn="l">
              <a:lnSpc>
                <a:spcPts val="3613"/>
              </a:lnSpc>
            </a:pPr>
            <a:r>
              <a:rPr lang="en-US" sz="2441" spc="30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UPGRAD</a:t>
            </a:r>
            <a:r>
              <a:rPr lang="en-US" sz="2441" spc="30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ABLE, LONG-LIVED INFRASTRUCTURE</a:t>
            </a: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Compute and storage scale over time, prioritizing repairability and lifetime value.</a:t>
            </a:r>
          </a:p>
          <a:p>
            <a:pPr algn="l">
              <a:lnSpc>
                <a:spcPts val="3613"/>
              </a:lnSpc>
            </a:pPr>
            <a:r>
              <a:rPr lang="en-US" sz="2441" spc="307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TRANSPARENT AND DEFENSIBLE BY DESIGN</a:t>
            </a: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Built on open source for auditability, with a novel memory system targeted for patenting (where feasible).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489384"/>
          <a:ext cx="9958388" cy="6286500"/>
        </p:xfrm>
        <a:graphic>
          <a:graphicData uri="http://schemas.openxmlformats.org/presentationml/2006/ole">
            <p:oleObj imgW="11950700" imgH="8267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11116555" y="553091"/>
          <a:ext cx="9901238" cy="6286500"/>
        </p:xfrm>
        <a:graphic>
          <a:graphicData uri="http://schemas.openxmlformats.org/presentationml/2006/ole">
            <p:oleObj imgW="11874500" imgH="8267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59545" y="153041"/>
            <a:ext cx="16699755" cy="171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7"/>
              </a:lnSpc>
            </a:pPr>
            <a:r>
              <a:rPr lang="en-US" b="true" sz="8630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COMPONENTS: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MOAT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00153"/>
            <a:ext cx="15014636" cy="674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441" spc="295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THREE THINGS THAT DON'T COMMODITIZE</a:t>
            </a:r>
          </a:p>
          <a:p>
            <a:pPr algn="l">
              <a:lnSpc>
                <a:spcPts val="3613"/>
              </a:lnSpc>
            </a:pP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 MEMORY. Hand-built from scratch — not a context window, not RAG. It remembers with proof and gets sharper the longer you use it. Six months in, replacing it means lobotomizing your own chief of staff.</a:t>
            </a:r>
          </a:p>
          <a:p>
            <a:pPr algn="l">
              <a:lnSpc>
                <a:spcPts val="3613"/>
              </a:lnSpc>
            </a:pP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 MACHINE. It runs on hardware you own, in your office. Big Tech's business model requires your data on their servers; ours forbids it. They can copy features — they cannot copy this sentence: "not one byte leaves."</a:t>
            </a:r>
          </a:p>
          <a:p>
            <a:pPr algn="l">
              <a:lnSpc>
                <a:spcPts val="3613"/>
              </a:lnSpc>
            </a:pPr>
          </a:p>
          <a:p>
            <a:pPr algn="l" marL="527181" indent="-263591" lvl="1">
              <a:lnSpc>
                <a:spcPts val="3613"/>
              </a:lnSpc>
              <a:buFont typeface="Arial"/>
              <a:buChar char="•"/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THE CONVICTION. Trust isn't a feature we added; it's the rule everything else obeys. Recordings destroyed in seconds, keys we never hold, nothing sent without your tap.</a:t>
            </a:r>
          </a:p>
          <a:p>
            <a:pPr algn="l">
              <a:lnSpc>
                <a:spcPts val="3613"/>
              </a:lnSpc>
            </a:pPr>
          </a:p>
          <a:p>
            <a:pPr algn="l">
              <a:lnSpc>
                <a:spcPts val="3613"/>
              </a:lnSpc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Any one of these is hard. All three together is structural. And the first one is ours alone — here's how it works →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40790" y="2263854"/>
            <a:ext cx="5188223" cy="4092211"/>
          </a:xfrm>
          <a:custGeom>
            <a:avLst/>
            <a:gdLst/>
            <a:ahLst/>
            <a:cxnLst/>
            <a:rect r="r" b="b" t="t" l="l"/>
            <a:pathLst>
              <a:path h="4092211" w="5188223">
                <a:moveTo>
                  <a:pt x="0" y="0"/>
                </a:moveTo>
                <a:lnTo>
                  <a:pt x="5188223" y="0"/>
                </a:lnTo>
                <a:lnTo>
                  <a:pt x="5188223" y="4092210"/>
                </a:lnTo>
                <a:lnTo>
                  <a:pt x="0" y="4092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0984" y="6954039"/>
            <a:ext cx="6347834" cy="2304261"/>
          </a:xfrm>
          <a:custGeom>
            <a:avLst/>
            <a:gdLst/>
            <a:ahLst/>
            <a:cxnLst/>
            <a:rect r="r" b="b" t="t" l="l"/>
            <a:pathLst>
              <a:path h="2304261" w="6347834">
                <a:moveTo>
                  <a:pt x="0" y="0"/>
                </a:moveTo>
                <a:lnTo>
                  <a:pt x="6347834" y="0"/>
                </a:lnTo>
                <a:lnTo>
                  <a:pt x="6347834" y="2304261"/>
                </a:lnTo>
                <a:lnTo>
                  <a:pt x="0" y="2304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8" t="0" r="-237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0293" y="2578176"/>
            <a:ext cx="9211713" cy="711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241" spc="271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MEMORY WITHOUT RECEIPTS</a:t>
            </a:r>
          </a:p>
          <a:p>
            <a:pPr algn="l" marL="484000" indent="-242000" lvl="1">
              <a:lnSpc>
                <a:spcPts val="3317"/>
              </a:lnSpc>
              <a:buFont typeface="Arial"/>
              <a:buChar char="•"/>
            </a:pP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It never makes up a memory. A fact is only saved when there's proof, and every fact links back to the exact timestamped moment it came from. Ask it anything — it answers with receipts.</a:t>
            </a:r>
          </a:p>
          <a:p>
            <a:pPr algn="l" marL="484000" indent="-242000" lvl="1">
              <a:lnSpc>
                <a:spcPts val="3317"/>
              </a:lnSpc>
              <a:buFont typeface="Arial"/>
              <a:buChar char="•"/>
            </a:pP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It gets sharper with history, not dumber. Other AIs blur and forget as your data grows; ours stores memories as an organized graph, so a year of your life adds knowledge, not noise.</a:t>
            </a:r>
          </a:p>
          <a:p>
            <a:pPr algn="l">
              <a:lnSpc>
                <a:spcPts val="3317"/>
              </a:lnSpc>
            </a:pPr>
          </a:p>
          <a:p>
            <a:pPr algn="l">
              <a:lnSpc>
                <a:spcPts val="3317"/>
              </a:lnSpc>
            </a:pPr>
            <a:r>
              <a:rPr lang="en-US" sz="2241" spc="271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KNOWS EVERYTHING. LEAKS NOTHING</a:t>
            </a:r>
          </a:p>
          <a:p>
            <a:pPr algn="l" marL="484000" indent="-242000" lvl="1">
              <a:lnSpc>
                <a:spcPts val="3317"/>
              </a:lnSpc>
              <a:buFont typeface="Arial"/>
              <a:buChar char="•"/>
            </a:pP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Raw audio dies in seconds. We keep the facts — who promised what, when — and destroy the rec</a:t>
            </a: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ORDING. THERE IS NO ARCHIVE OF YOUR LIFE TO</a:t>
            </a: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hack, sell, or subpoena.</a:t>
            </a:r>
          </a:p>
          <a:p>
            <a:pPr algn="l" marL="484000" indent="-242000" lvl="1">
              <a:lnSpc>
                <a:spcPts val="3317"/>
              </a:lnSpc>
              <a:buFont typeface="Arial"/>
              <a:buChar char="•"/>
            </a:pP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It lives on hardware you own, locked with keys only you ho</a:t>
            </a: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LD. WE LITERALLY CANNOT READ</a:t>
            </a:r>
            <a:r>
              <a:rPr lang="en-US" sz="2241" spc="53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your data — not to help you, not to train on it, not if a court asks.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0293" y="996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MEMORY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90802"/>
            <a:ext cx="14713186" cy="11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i="true" spc="50">
                <a:solidFill>
                  <a:srgbClr val="EEEEE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The assistant layer? Anyone can build it. Wiring an LLM to an inbox is weekend project. What nobody else has is what it stands on —</a:t>
            </a:r>
          </a:p>
          <a:p>
            <a:pPr algn="l">
              <a:lnSpc>
                <a:spcPts val="3108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PROOF OF CONCEPT: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80876" y="3091957"/>
            <a:ext cx="11811724" cy="434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sz="2600" spc="62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 We fed Untethered our WhatsApp group chat. With zero manual tagging, it built a structured, queryable model of the people in it — every insight backed by real quotes.</a:t>
            </a:r>
          </a:p>
          <a:p>
            <a:pPr algn="l" marL="561341" indent="-280670" lvl="1">
              <a:lnSpc>
                <a:spcPts val="3848"/>
              </a:lnSpc>
              <a:buFont typeface="Arial"/>
              <a:buChar char="•"/>
            </a:pPr>
            <a:r>
              <a:rPr lang="en-US" sz="2600" spc="62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Raw messages → observations → claims → relationships → life episodes → a living identity profile</a:t>
            </a:r>
          </a:p>
          <a:p>
            <a:pPr algn="l" marL="561341" indent="-280670" lvl="1">
              <a:lnSpc>
                <a:spcPts val="3848"/>
              </a:lnSpc>
              <a:buFont typeface="Arial"/>
              <a:buChar char="•"/>
            </a:pPr>
            <a:r>
              <a:rPr lang="en-US" sz="2600" spc="62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Everything is evidence-grounded: each claim links to verbatim, timestamped lines</a:t>
            </a:r>
          </a:p>
          <a:p>
            <a:pPr algn="l" marL="561341" indent="-280670" lvl="1">
              <a:lnSpc>
                <a:spcPts val="3848"/>
              </a:lnSpc>
              <a:buFont typeface="Arial"/>
              <a:buChar char="•"/>
            </a:pPr>
            <a:r>
              <a:rPr lang="en-US" sz="2600" spc="62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Runs locally (private by default) with cloud models only for the final synthesis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4060" y="9229725"/>
            <a:ext cx="17119879" cy="87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EFEFEF"/>
                </a:solidFill>
                <a:latin typeface="Canva Sans"/>
                <a:ea typeface="Canva Sans"/>
                <a:cs typeface="Canva Sans"/>
                <a:sym typeface="Canva Sans"/>
              </a:rPr>
              <a:t>(Built on a shoestring. Everything you're about to see was built by a student team on a free </a:t>
            </a:r>
            <a:r>
              <a:rPr lang="en-US" sz="1700">
                <a:solidFill>
                  <a:srgbClr val="EFEFEF"/>
                </a:solidFill>
                <a:latin typeface="Canva Sans"/>
                <a:ea typeface="Canva Sans"/>
                <a:cs typeface="Canva Sans"/>
                <a:sym typeface="Canva Sans"/>
              </a:rPr>
              <a:t>API tier and a 4GB consumer laptop GPU — a deliberately primitive proof of concept, constrained only by our current budget. This is the floor, not the ceiling. With funding, better models and full data unlock a dramatically sharper product)</a:t>
            </a:r>
          </a:p>
          <a:p>
            <a:pPr algn="ctr">
              <a:lnSpc>
                <a:spcPts val="238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0044" y="3312438"/>
            <a:ext cx="13147913" cy="2826801"/>
          </a:xfrm>
          <a:custGeom>
            <a:avLst/>
            <a:gdLst/>
            <a:ahLst/>
            <a:cxnLst/>
            <a:rect r="r" b="b" t="t" l="l"/>
            <a:pathLst>
              <a:path h="2826801" w="13147913">
                <a:moveTo>
                  <a:pt x="0" y="0"/>
                </a:moveTo>
                <a:lnTo>
                  <a:pt x="13147912" y="0"/>
                </a:lnTo>
                <a:lnTo>
                  <a:pt x="13147912" y="2826801"/>
                </a:lnTo>
                <a:lnTo>
                  <a:pt x="0" y="282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9190" y="218105"/>
            <a:ext cx="10484511" cy="166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  <a:spcBef>
                <a:spcPct val="0"/>
              </a:spcBef>
            </a:pPr>
            <a:r>
              <a:rPr lang="en-US" b="true" sz="83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ASK UNTETHER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6531283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Ask anything in plain language — it answers from the chat, with quotes as receipts.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9687" y="2025735"/>
            <a:ext cx="12166889" cy="6235531"/>
          </a:xfrm>
          <a:custGeom>
            <a:avLst/>
            <a:gdLst/>
            <a:ahLst/>
            <a:cxnLst/>
            <a:rect r="r" b="b" t="t" l="l"/>
            <a:pathLst>
              <a:path h="6235531" w="12166889">
                <a:moveTo>
                  <a:pt x="0" y="0"/>
                </a:moveTo>
                <a:lnTo>
                  <a:pt x="12166890" y="0"/>
                </a:lnTo>
                <a:lnTo>
                  <a:pt x="12166890" y="6235530"/>
                </a:lnTo>
                <a:lnTo>
                  <a:pt x="0" y="62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904352" y="105555"/>
            <a:ext cx="16724225" cy="154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9"/>
              </a:lnSpc>
              <a:spcBef>
                <a:spcPct val="0"/>
              </a:spcBef>
            </a:pPr>
            <a:r>
              <a:rPr lang="en-US" b="true" sz="77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WHO IT THINKS WE 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83124" y="8547234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uncanny, specific portrait generated from the conversation, plus values, interests, routines, and concerns.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1266" y="1739608"/>
            <a:ext cx="10865468" cy="6750172"/>
          </a:xfrm>
          <a:custGeom>
            <a:avLst/>
            <a:gdLst/>
            <a:ahLst/>
            <a:cxnLst/>
            <a:rect r="r" b="b" t="t" l="l"/>
            <a:pathLst>
              <a:path h="6750172" w="10865468">
                <a:moveTo>
                  <a:pt x="0" y="0"/>
                </a:moveTo>
                <a:lnTo>
                  <a:pt x="10865468" y="0"/>
                </a:lnTo>
                <a:lnTo>
                  <a:pt x="10865468" y="6750172"/>
                </a:lnTo>
                <a:lnTo>
                  <a:pt x="0" y="6750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50725" y="1961"/>
            <a:ext cx="18589451" cy="14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4"/>
              </a:lnSpc>
              <a:spcBef>
                <a:spcPct val="0"/>
              </a:spcBef>
            </a:pPr>
            <a:r>
              <a:rPr lang="en-US" b="true" sz="72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RELATIONSHIPS, QUANTIFIED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8733156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per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son scored on closeness, sentiment, and trajectory — with message balance and a real quote each.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2286" y="1768886"/>
            <a:ext cx="10383428" cy="6749228"/>
          </a:xfrm>
          <a:custGeom>
            <a:avLst/>
            <a:gdLst/>
            <a:ahLst/>
            <a:cxnLst/>
            <a:rect r="r" b="b" t="t" l="l"/>
            <a:pathLst>
              <a:path h="6749228" w="10383428">
                <a:moveTo>
                  <a:pt x="0" y="0"/>
                </a:moveTo>
                <a:lnTo>
                  <a:pt x="10383428" y="0"/>
                </a:lnTo>
                <a:lnTo>
                  <a:pt x="10383428" y="6749228"/>
                </a:lnTo>
                <a:lnTo>
                  <a:pt x="0" y="6749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46379" y="-106890"/>
            <a:ext cx="18288000" cy="154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9"/>
              </a:lnSpc>
              <a:spcBef>
                <a:spcPct val="0"/>
              </a:spcBef>
            </a:pPr>
            <a:r>
              <a:rPr lang="en-US" b="true" sz="77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A LIFE, AUTO-CHAPTERED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63042" y="8813389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ch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 history organized into meaningful periods, each with a date, emotional tone, and description.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1046" y="1646444"/>
            <a:ext cx="13825907" cy="6912954"/>
          </a:xfrm>
          <a:custGeom>
            <a:avLst/>
            <a:gdLst/>
            <a:ahLst/>
            <a:cxnLst/>
            <a:rect r="r" b="b" t="t" l="l"/>
            <a:pathLst>
              <a:path h="6912954" w="13825907">
                <a:moveTo>
                  <a:pt x="0" y="0"/>
                </a:moveTo>
                <a:lnTo>
                  <a:pt x="13825908" y="0"/>
                </a:lnTo>
                <a:lnTo>
                  <a:pt x="13825908" y="6912953"/>
                </a:lnTo>
                <a:lnTo>
                  <a:pt x="0" y="6912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95654" y="11827"/>
            <a:ext cx="18419885" cy="134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9"/>
              </a:lnSpc>
              <a:spcBef>
                <a:spcPct val="0"/>
              </a:spcBef>
            </a:pPr>
            <a:r>
              <a:rPr lang="en-US" b="true" sz="67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EVERY INSIGHT, WITH RECEIPTS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8803781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Filterable claim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with a confidence score, status, the people/topics involved, and the exact quotes behind each one.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742542"/>
            <a:ext cx="11301259" cy="2274378"/>
          </a:xfrm>
          <a:custGeom>
            <a:avLst/>
            <a:gdLst/>
            <a:ahLst/>
            <a:cxnLst/>
            <a:rect r="r" b="b" t="t" l="l"/>
            <a:pathLst>
              <a:path h="2274378" w="11301259">
                <a:moveTo>
                  <a:pt x="0" y="0"/>
                </a:moveTo>
                <a:lnTo>
                  <a:pt x="11301258" y="0"/>
                </a:lnTo>
                <a:lnTo>
                  <a:pt x="11301258" y="2274378"/>
                </a:lnTo>
                <a:lnTo>
                  <a:pt x="0" y="227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61340" y="99395"/>
            <a:ext cx="16403934" cy="15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0"/>
              </a:lnSpc>
              <a:spcBef>
                <a:spcPct val="0"/>
              </a:spcBef>
            </a:pPr>
            <a:r>
              <a:rPr lang="en-US" b="true" sz="76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REAL DATA, NOT VIBES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6531283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 was actually extracted — chunks, observations, inferences, claims, facts, contacts, episodes.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0257" y="1839917"/>
            <a:ext cx="12567485" cy="6268033"/>
          </a:xfrm>
          <a:custGeom>
            <a:avLst/>
            <a:gdLst/>
            <a:ahLst/>
            <a:cxnLst/>
            <a:rect r="r" b="b" t="t" l="l"/>
            <a:pathLst>
              <a:path h="6268033" w="12567485">
                <a:moveTo>
                  <a:pt x="0" y="0"/>
                </a:moveTo>
                <a:lnTo>
                  <a:pt x="12567486" y="0"/>
                </a:lnTo>
                <a:lnTo>
                  <a:pt x="12567486" y="6268034"/>
                </a:lnTo>
                <a:lnTo>
                  <a:pt x="0" y="626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3692" y="3321"/>
            <a:ext cx="11818276" cy="166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  <a:spcBef>
                <a:spcPct val="0"/>
              </a:spcBef>
            </a:pPr>
            <a:r>
              <a:rPr lang="en-US" b="true" sz="83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NOTHING HIDDEN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8563590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acces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to every underlying table — total auditability of what the system stores.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8021" y="2010813"/>
            <a:ext cx="12751957" cy="6264399"/>
          </a:xfrm>
          <a:custGeom>
            <a:avLst/>
            <a:gdLst/>
            <a:ahLst/>
            <a:cxnLst/>
            <a:rect r="r" b="b" t="t" l="l"/>
            <a:pathLst>
              <a:path h="6264399" w="12751957">
                <a:moveTo>
                  <a:pt x="0" y="0"/>
                </a:moveTo>
                <a:lnTo>
                  <a:pt x="12751958" y="0"/>
                </a:lnTo>
                <a:lnTo>
                  <a:pt x="12751958" y="6264399"/>
                </a:lnTo>
                <a:lnTo>
                  <a:pt x="0" y="6264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682" y="246680"/>
            <a:ext cx="13145427" cy="155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8"/>
              </a:lnSpc>
              <a:spcBef>
                <a:spcPct val="0"/>
              </a:spcBef>
            </a:pPr>
            <a:r>
              <a:rPr lang="en-US" b="true" sz="7888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MEMORY GRAPH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3992" y="8433722"/>
            <a:ext cx="11600015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Claims lin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ked to their supporting inferences and evidence — memory as a connected structure, not a flat list.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6642" y="2783228"/>
            <a:ext cx="7434745" cy="78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3"/>
              </a:lnSpc>
            </a:pPr>
            <a:r>
              <a:rPr lang="en-US" sz="4441" spc="106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Gautam Krishna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01655"/>
            <a:ext cx="6999339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Handles opera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tions, finance, and administration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Ov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ersees planning, execution, and day-to-day management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Keeps the business running smoothly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023489" y="3844480"/>
            <a:ext cx="6999339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Built the core technology from the ground up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Leads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development, product delivery, and R&amp;D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Focused on turning ideas into working systems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9144000" y="2661021"/>
            <a:ext cx="0" cy="569261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59961" y="2783228"/>
            <a:ext cx="7434745" cy="78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3"/>
              </a:lnSpc>
            </a:pPr>
            <a:r>
              <a:rPr lang="en-US" sz="4441" spc="106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Harish Senthilkumar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16230600" cy="16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3"/>
              </a:lnSpc>
            </a:pPr>
            <a:r>
              <a:rPr lang="en-US" b="true" sz="8388">
                <a:solidFill>
                  <a:srgbClr val="EEEEEC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0028" y="2462472"/>
            <a:ext cx="14863911" cy="43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441" spc="58">
                <a:solidFill>
                  <a:srgbClr val="EEEEEC"/>
                </a:solidFill>
                <a:latin typeface="Montserrat"/>
                <a:ea typeface="Montserrat"/>
                <a:cs typeface="Montserrat"/>
                <a:sym typeface="Montserrat"/>
              </a:rPr>
              <a:t>(This is what a free tier and a laptop GPU can do. Imagine what funding does.)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95458"/>
            <a:ext cx="6999339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you just saw (the constraine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PoC):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Two developers, a free Gemini key, a 4GB laptop GPU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single chat source, an early slice of the history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Already producing an uncanny, evidence-grounded profile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488038" y="3795458"/>
            <a:ext cx="6999339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the next stage unlocks: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Full multi-year history on str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onger models — sharper, deeper memory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Drag-and-drop onboarding (no code) + more sources (email, more chats)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"</a:t>
            </a:r>
            <a:r>
              <a:rPr lang="en-US" sz="2900">
                <a:solidFill>
                  <a:srgbClr val="EEEEE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Ask Untethered" as a real conversation; first 200 beta users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9258038" y="3530995"/>
            <a:ext cx="0" cy="468436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DAG-tEEr6CM</dc:identifier>
  <dcterms:modified xsi:type="dcterms:W3CDTF">2011-08-01T06:04:30Z</dcterms:modified>
  <cp:revision>1</cp:revision>
  <dc:title>Untether</dc:title>
</cp:coreProperties>
</file>